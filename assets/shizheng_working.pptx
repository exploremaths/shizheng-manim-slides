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nance.sina.com.cn/wm/2026-10-10/doc-iniusnxt6404718.s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nance.sina.com.cn/wm/2026-10-10/doc-iniusnxt6404718.s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caixin.com/2026-10-16/102494128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nance.sina.com.cn/wm/2026-10-10/doc-iniusnxt6404718.shtml" TargetMode="External"/><Relationship Id="rId3" Type="http://schemas.openxmlformats.org/officeDocument/2006/relationships/hyperlink" Target="https://www.caixin.com/2026-10-16/102494128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rcRect t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abel"/>
          <p:cNvSpPr txBox="1"/>
          <p:nvPr/>
        </p:nvSpPr>
        <p:spPr>
          <a:xfrm>
            <a:off x="812800" y="50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时政演讲 · 道德与法治</a:t>
            </a:r>
            <a:endParaRPr lang="en-US" sz="1200" noProof="1"/>
          </a:p>
        </p:txBody>
      </p:sp>
      <p:sp>
        <p:nvSpPr>
          <p:cNvPr id="3" name="title-bar"/>
          <p:cNvSpPr/>
          <p:nvPr/>
        </p:nvSpPr>
        <p:spPr>
          <a:xfrm>
            <a:off x="812800" y="1905000"/>
            <a:ext cx="76200" cy="1676400"/>
          </a:xfrm>
          <a:prstGeom prst="rect">
            <a:avLst/>
          </a:prstGeom>
          <a:solidFill>
            <a:srgbClr val="C03A2B"/>
          </a:solidFill>
          <a:ln>
            <a:noFill/>
          </a:ln>
        </p:spPr>
      </p:sp>
      <p:sp>
        <p:nvSpPr>
          <p:cNvPr id="4" name="main-title"/>
          <p:cNvSpPr txBox="1"/>
          <p:nvPr/>
        </p:nvSpPr>
        <p:spPr>
          <a:xfrm>
            <a:off x="1092200" y="1778000"/>
            <a:ext cx="7112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4800" noProof="1" b="1">
                <a:solidFill>
                  <a:srgbClr val="211D18"/>
                </a:solidFill>
                <a:latin typeface="Noto Serif SC"/>
                <a:ea typeface="Noto Serif SC"/>
              </a:rPr>
              <a:t>向“新”而行，
以“创”致远</a:t>
            </a:r>
            <a:endParaRPr lang="en-US" sz="4800" noProof="1"/>
          </a:p>
        </p:txBody>
      </p:sp>
      <p:sp>
        <p:nvSpPr>
          <p:cNvPr id="5" name="sub-title"/>
          <p:cNvSpPr txBox="1"/>
          <p:nvPr/>
        </p:nvSpPr>
        <p:spPr>
          <a:xfrm>
            <a:off x="1092200" y="39370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211D18"/>
                </a:solidFill>
                <a:latin typeface="MiSans"/>
                <a:ea typeface="MiSans"/>
              </a:rPr>
              <a:t>——从《关于发展新质生产力的意见》看“创新驱动发展”</a:t>
            </a:r>
            <a:endParaRPr lang="en-US" sz="1600" noProof="1"/>
          </a:p>
        </p:txBody>
      </p:sp>
      <p:sp>
        <p:nvSpPr>
          <p:cNvPr id="6" name="bottom-info"/>
          <p:cNvSpPr txBox="1"/>
          <p:nvPr/>
        </p:nvSpPr>
        <p:spPr>
          <a:xfrm>
            <a:off x="812800" y="5867400"/>
            <a:ext cx="787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4A4239"/>
                </a:solidFill>
                <a:latin typeface="MiSans"/>
                <a:ea typeface="MiSans"/>
              </a:rPr>
              <a:t>教材链接：人教版《道德与法治》九年级上册 第二课《创新驱动发展》
演讲人：××× ｜ 班级：×××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报道 · 01 时政速览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中共中央、国务院发布《关于发展新质生产力的意见》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info-label-1"/>
          <p:cNvSpPr txBox="1"/>
          <p:nvPr/>
        </p:nvSpPr>
        <p:spPr>
          <a:xfrm>
            <a:off x="812800" y="17272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时　间</a:t>
            </a:r>
            <a:endParaRPr lang="en-US" sz="1200" noProof="1"/>
          </a:p>
        </p:txBody>
      </p:sp>
      <p:sp>
        <p:nvSpPr>
          <p:cNvPr id="6" name="info-value-1"/>
          <p:cNvSpPr txBox="1"/>
          <p:nvPr/>
        </p:nvSpPr>
        <p:spPr>
          <a:xfrm>
            <a:off x="812800" y="19812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2026 年 10 月 9 日</a:t>
            </a:r>
            <a:endParaRPr lang="en-US" sz="1700" noProof="1"/>
          </a:p>
        </p:txBody>
      </p:sp>
      <p:sp>
        <p:nvSpPr>
          <p:cNvPr id="7" name="info-label-2"/>
          <p:cNvSpPr txBox="1"/>
          <p:nvPr/>
        </p:nvSpPr>
        <p:spPr>
          <a:xfrm>
            <a:off x="812800" y="2540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发布主体</a:t>
            </a:r>
            <a:endParaRPr lang="en-US" sz="1200" noProof="1"/>
          </a:p>
        </p:txBody>
      </p:sp>
      <p:sp>
        <p:nvSpPr>
          <p:cNvPr id="8" name="info-value-2"/>
          <p:cNvSpPr txBox="1"/>
          <p:nvPr/>
        </p:nvSpPr>
        <p:spPr>
          <a:xfrm>
            <a:off x="812800" y="27940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中共中央、国务院</a:t>
            </a:r>
            <a:endParaRPr lang="en-US" sz="1700" noProof="1"/>
          </a:p>
        </p:txBody>
      </p:sp>
      <p:sp>
        <p:nvSpPr>
          <p:cNvPr id="9" name="info-label-3"/>
          <p:cNvSpPr txBox="1"/>
          <p:nvPr/>
        </p:nvSpPr>
        <p:spPr>
          <a:xfrm>
            <a:off x="812800" y="3352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文件名称</a:t>
            </a:r>
            <a:endParaRPr lang="en-US" sz="1200" noProof="1"/>
          </a:p>
        </p:txBody>
      </p:sp>
      <p:sp>
        <p:nvSpPr>
          <p:cNvPr id="10" name="info-value-3"/>
          <p:cNvSpPr txBox="1"/>
          <p:nvPr/>
        </p:nvSpPr>
        <p:spPr>
          <a:xfrm>
            <a:off x="812800" y="36068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《关于发展新质生产力的意见》</a:t>
            </a:r>
            <a:endParaRPr lang="en-US" sz="1700" noProof="1"/>
          </a:p>
        </p:txBody>
      </p:sp>
      <p:sp>
        <p:nvSpPr>
          <p:cNvPr id="11" name="v-divider"/>
          <p:cNvSpPr/>
          <p:nvPr>
            <p:extLst>
              <p:ext uri="{F5677B7D-0D2A-4D9B-9A5C-6D8D7D0E5A5D}">
                <pptd:line encoding="base64url">eyJ2aWV3Qm94IjpbMSwxNzBdLCJwb2ludHMiOiIwLDAgMCwxNzAifQ</pptd:line>
              </p:ext>
            </p:extLst>
          </p:nvPr>
        </p:nvSpPr>
        <p:spPr>
          <a:xfrm>
            <a:off x="6604000" y="1727200"/>
            <a:ext cx="12700" cy="2159000"/>
          </a:xfrm>
          <a:custGeom>
            <a:avLst/>
            <a:gdLst/>
            <a:ahLst/>
            <a:cxnLst/>
            <a:rect l="l" t="t" r="r" b="b"/>
            <a:pathLst>
              <a:path w="1" h="170">
                <a:moveTo>
                  <a:pt x="0" y="0"/>
                </a:moveTo>
                <a:lnTo>
                  <a:pt x="0" y="17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2" name="stat-num-1"/>
          <p:cNvSpPr txBox="1"/>
          <p:nvPr/>
        </p:nvSpPr>
        <p:spPr>
          <a:xfrm>
            <a:off x="7112000" y="165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 b="1">
                <a:solidFill>
                  <a:srgbClr val="C03A2B"/>
                </a:solidFill>
                <a:latin typeface="Noto Serif SC"/>
                <a:ea typeface="Noto Serif SC"/>
              </a:rPr>
              <a:t>5 个</a:t>
            </a:r>
            <a:endParaRPr lang="en-US" sz="5600" noProof="1"/>
          </a:p>
        </p:txBody>
      </p:sp>
      <p:sp>
        <p:nvSpPr>
          <p:cNvPr id="13" name="stat-cap-1"/>
          <p:cNvSpPr txBox="1"/>
          <p:nvPr/>
        </p:nvSpPr>
        <p:spPr>
          <a:xfrm>
            <a:off x="7112000" y="2616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7A7166"/>
                </a:solidFill>
                <a:latin typeface="MiSans"/>
                <a:ea typeface="MiSans"/>
              </a:rPr>
              <a:t>方面部署（科技创新摆在首位）</a:t>
            </a:r>
            <a:endParaRPr lang="en-US" sz="1300" noProof="1"/>
          </a:p>
        </p:txBody>
      </p:sp>
      <p:sp>
        <p:nvSpPr>
          <p:cNvPr id="14" name="stat-num-2"/>
          <p:cNvSpPr txBox="1"/>
          <p:nvPr/>
        </p:nvSpPr>
        <p:spPr>
          <a:xfrm>
            <a:off x="9398000" y="1651000"/>
            <a:ext cx="2032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 b="1">
                <a:solidFill>
                  <a:srgbClr val="C03A2B"/>
                </a:solidFill>
                <a:latin typeface="Noto Serif SC"/>
                <a:ea typeface="Noto Serif SC"/>
              </a:rPr>
              <a:t>19 项</a:t>
            </a:r>
            <a:endParaRPr lang="en-US" sz="5600" noProof="1"/>
          </a:p>
        </p:txBody>
      </p:sp>
      <p:sp>
        <p:nvSpPr>
          <p:cNvPr id="15" name="stat-cap-2"/>
          <p:cNvSpPr txBox="1"/>
          <p:nvPr/>
        </p:nvSpPr>
        <p:spPr>
          <a:xfrm>
            <a:off x="9398000" y="2616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7A7166"/>
                </a:solidFill>
                <a:latin typeface="MiSans"/>
                <a:ea typeface="MiSans"/>
              </a:rPr>
              <a:t>重点举措</a:t>
            </a:r>
            <a:endParaRPr lang="en-US" sz="1300" noProof="1"/>
          </a:p>
        </p:txBody>
      </p:sp>
      <p:sp>
        <p:nvSpPr>
          <p:cNvPr id="16" name="quote-band"/>
          <p:cNvSpPr/>
          <p:nvPr/>
        </p:nvSpPr>
        <p:spPr>
          <a:xfrm>
            <a:off x="0" y="4267200"/>
            <a:ext cx="12192000" cy="1397000"/>
          </a:xfrm>
          <a:prstGeom prst="rect">
            <a:avLst/>
          </a:prstGeom>
          <a:solidFill>
            <a:srgbClr val="F1E9DC"/>
          </a:solidFill>
          <a:ln>
            <a:noFill/>
          </a:ln>
        </p:spPr>
      </p:sp>
      <p:sp>
        <p:nvSpPr>
          <p:cNvPr id="17" name="quote-mark"/>
          <p:cNvSpPr txBox="1"/>
          <p:nvPr/>
        </p:nvSpPr>
        <p:spPr>
          <a:xfrm>
            <a:off x="812800" y="44196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C03A2B"/>
                </a:solidFill>
                <a:latin typeface="Noto Serif SC"/>
                <a:ea typeface="Noto Serif SC"/>
              </a:rPr>
              <a:t>“</a:t>
            </a:r>
            <a:endParaRPr lang="en-US" sz="5200" noProof="1"/>
          </a:p>
        </p:txBody>
      </p:sp>
      <p:sp>
        <p:nvSpPr>
          <p:cNvPr id="18" name="quote-text"/>
          <p:cNvSpPr txBox="1"/>
          <p:nvPr/>
        </p:nvSpPr>
        <p:spPr>
          <a:xfrm>
            <a:off x="1524000" y="4495800"/>
            <a:ext cx="9855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11D18"/>
                </a:solidFill>
                <a:latin typeface="Noto Serif SC"/>
                <a:ea typeface="Noto Serif SC"/>
              </a:rPr>
              <a:t>围绕科技创新、产业创新、发展方式创新、体制机制创新、人才工作机制创新五方面，提出 19 项重点举措。</a:t>
            </a:r>
            <a:endParaRPr lang="en-US" sz="1700" noProof="1"/>
          </a:p>
        </p:txBody>
      </p:sp>
      <p:sp>
        <p:nvSpPr>
          <p:cNvPr id="19" name="why-line"/>
          <p:cNvSpPr txBox="1"/>
          <p:nvPr/>
        </p:nvSpPr>
        <p:spPr>
          <a:xfrm>
            <a:off x="812800" y="5918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A7166"/>
                </a:solidFill>
                <a:latin typeface="MiSans"/>
                <a:ea typeface="MiSans"/>
              </a:rPr>
              <a:t>为什么选这条新闻？——它正对应教材的核心考点：创新驱动发展。接下来按“报道 → 教材 → 点评”展开。</a:t>
            </a:r>
            <a:endParaRPr lang="en-US" sz="1300" noProof="1"/>
          </a:p>
        </p:txBody>
      </p:sp>
      <p:sp>
        <p:nvSpPr>
          <p:cNvPr id="20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央视新闻《早啊！新闻来了》（2026-10-10）</a:t>
            </a: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，经新华社通稿报道</a:t>
            </a:r>
            <a:endParaRPr lang="en-US" sz="1000" noProof="1"/>
          </a:p>
        </p:txBody>
      </p:sp>
      <p:sp>
        <p:nvSpPr>
          <p:cNvPr id="21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02 / 08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报道 · 01 要点梳理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《意见》部署五方面创新，科技创新居首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r1-num"/>
          <p:cNvSpPr txBox="1"/>
          <p:nvPr/>
        </p:nvSpPr>
        <p:spPr>
          <a:xfrm>
            <a:off x="812800" y="1676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01</a:t>
            </a:r>
            <a:endParaRPr lang="en-US" sz="2000" noProof="1"/>
          </a:p>
        </p:txBody>
      </p:sp>
      <p:sp>
        <p:nvSpPr>
          <p:cNvPr id="6" name="r1-name"/>
          <p:cNvSpPr txBox="1"/>
          <p:nvPr/>
        </p:nvSpPr>
        <p:spPr>
          <a:xfrm>
            <a:off x="1524000" y="1701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科技创新</a:t>
            </a:r>
            <a:endParaRPr lang="en-US" sz="1700" noProof="1"/>
          </a:p>
        </p:txBody>
      </p:sp>
      <p:sp>
        <p:nvSpPr>
          <p:cNvPr id="7" name="r1-desc"/>
          <p:cNvSpPr txBox="1"/>
          <p:nvPr/>
        </p:nvSpPr>
        <p:spPr>
          <a:xfrm>
            <a:off x="4191000" y="1727200"/>
            <a:ext cx="7188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核心引擎——以科技突破引领产业变革</a:t>
            </a:r>
            <a:endParaRPr lang="en-US" sz="1400" noProof="1"/>
          </a:p>
        </p:txBody>
      </p:sp>
      <p:sp>
        <p:nvSpPr>
          <p:cNvPr id="8" name="r1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2184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9" name="r2-num"/>
          <p:cNvSpPr txBox="1"/>
          <p:nvPr/>
        </p:nvSpPr>
        <p:spPr>
          <a:xfrm>
            <a:off x="812800" y="2311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02</a:t>
            </a:r>
            <a:endParaRPr lang="en-US" sz="2000" noProof="1"/>
          </a:p>
        </p:txBody>
      </p:sp>
      <p:sp>
        <p:nvSpPr>
          <p:cNvPr id="10" name="r2-name"/>
          <p:cNvSpPr txBox="1"/>
          <p:nvPr/>
        </p:nvSpPr>
        <p:spPr>
          <a:xfrm>
            <a:off x="1524000" y="2336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产业创新</a:t>
            </a:r>
            <a:endParaRPr lang="en-US" sz="1700" noProof="1"/>
          </a:p>
        </p:txBody>
      </p:sp>
      <p:sp>
        <p:nvSpPr>
          <p:cNvPr id="11" name="r2-desc"/>
          <p:cNvSpPr txBox="1"/>
          <p:nvPr/>
        </p:nvSpPr>
        <p:spPr>
          <a:xfrm>
            <a:off x="4191000" y="2362200"/>
            <a:ext cx="7188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主战场——让科技成果转化为现实生产力</a:t>
            </a:r>
            <a:endParaRPr lang="en-US" sz="1400" noProof="1"/>
          </a:p>
        </p:txBody>
      </p:sp>
      <p:sp>
        <p:nvSpPr>
          <p:cNvPr id="12" name="r2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281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3" name="r3-num"/>
          <p:cNvSpPr txBox="1"/>
          <p:nvPr/>
        </p:nvSpPr>
        <p:spPr>
          <a:xfrm>
            <a:off x="812800" y="2946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03</a:t>
            </a:r>
            <a:endParaRPr lang="en-US" sz="2000" noProof="1"/>
          </a:p>
        </p:txBody>
      </p:sp>
      <p:sp>
        <p:nvSpPr>
          <p:cNvPr id="14" name="r3-name"/>
          <p:cNvSpPr txBox="1"/>
          <p:nvPr/>
        </p:nvSpPr>
        <p:spPr>
          <a:xfrm>
            <a:off x="1524000" y="2971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发展方式创新</a:t>
            </a:r>
            <a:endParaRPr lang="en-US" sz="1700" noProof="1"/>
          </a:p>
        </p:txBody>
      </p:sp>
      <p:sp>
        <p:nvSpPr>
          <p:cNvPr id="15" name="r3-desc"/>
          <p:cNvSpPr txBox="1"/>
          <p:nvPr/>
        </p:nvSpPr>
        <p:spPr>
          <a:xfrm>
            <a:off x="4191000" y="2997200"/>
            <a:ext cx="7188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方向标——推动发展向绿色化、智能化转型</a:t>
            </a:r>
            <a:endParaRPr lang="en-US" sz="1400" noProof="1"/>
          </a:p>
        </p:txBody>
      </p:sp>
      <p:sp>
        <p:nvSpPr>
          <p:cNvPr id="16" name="r3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3454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7" name="r4-num"/>
          <p:cNvSpPr txBox="1"/>
          <p:nvPr/>
        </p:nvSpPr>
        <p:spPr>
          <a:xfrm>
            <a:off x="812800" y="3581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04</a:t>
            </a:r>
            <a:endParaRPr lang="en-US" sz="2000" noProof="1"/>
          </a:p>
        </p:txBody>
      </p:sp>
      <p:sp>
        <p:nvSpPr>
          <p:cNvPr id="18" name="r4-name"/>
          <p:cNvSpPr txBox="1"/>
          <p:nvPr/>
        </p:nvSpPr>
        <p:spPr>
          <a:xfrm>
            <a:off x="1524000" y="3606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体制机制创新</a:t>
            </a:r>
            <a:endParaRPr lang="en-US" sz="1700" noProof="1"/>
          </a:p>
        </p:txBody>
      </p:sp>
      <p:sp>
        <p:nvSpPr>
          <p:cNvPr id="19" name="r4-desc"/>
          <p:cNvSpPr txBox="1"/>
          <p:nvPr/>
        </p:nvSpPr>
        <p:spPr>
          <a:xfrm>
            <a:off x="4191000" y="3632200"/>
            <a:ext cx="7188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制度保障——让各类创新活力充分涌流</a:t>
            </a:r>
            <a:endParaRPr lang="en-US" sz="1400" noProof="1"/>
          </a:p>
        </p:txBody>
      </p:sp>
      <p:sp>
        <p:nvSpPr>
          <p:cNvPr id="20" name="r4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4089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21" name="r5-num"/>
          <p:cNvSpPr txBox="1"/>
          <p:nvPr/>
        </p:nvSpPr>
        <p:spPr>
          <a:xfrm>
            <a:off x="812800" y="4216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05</a:t>
            </a:r>
            <a:endParaRPr lang="en-US" sz="2000" noProof="1"/>
          </a:p>
        </p:txBody>
      </p:sp>
      <p:sp>
        <p:nvSpPr>
          <p:cNvPr id="22" name="r5-name"/>
          <p:cNvSpPr txBox="1"/>
          <p:nvPr/>
        </p:nvSpPr>
        <p:spPr>
          <a:xfrm>
            <a:off x="1524000" y="4241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11D18"/>
                </a:solidFill>
                <a:latin typeface="MiSans"/>
                <a:ea typeface="MiSans"/>
              </a:rPr>
              <a:t>人才工作机制创新</a:t>
            </a:r>
            <a:endParaRPr lang="en-US" sz="1700" noProof="1"/>
          </a:p>
        </p:txBody>
      </p:sp>
      <p:sp>
        <p:nvSpPr>
          <p:cNvPr id="23" name="r5-desc"/>
          <p:cNvSpPr txBox="1"/>
          <p:nvPr/>
        </p:nvSpPr>
        <p:spPr>
          <a:xfrm>
            <a:off x="4191000" y="4267200"/>
            <a:ext cx="7188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第一资源——培养造就大批创新型人才</a:t>
            </a:r>
            <a:endParaRPr lang="en-US" sz="1400" noProof="1"/>
          </a:p>
        </p:txBody>
      </p:sp>
      <p:sp>
        <p:nvSpPr>
          <p:cNvPr id="24" name="r5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4724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25" name="note"/>
          <p:cNvSpPr txBox="1"/>
          <p:nvPr/>
        </p:nvSpPr>
        <p:spPr>
          <a:xfrm>
            <a:off x="812800" y="5080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注：左列为《意见》部署的五个方面（据新华社报道）；右列为演讲者结合教材知识所作的要点解读，帮助理解记忆。</a:t>
            </a:r>
            <a:endParaRPr lang="en-US" sz="1200" noProof="1"/>
          </a:p>
        </p:txBody>
      </p:sp>
      <p:sp>
        <p:nvSpPr>
          <p:cNvPr id="26" name="memory-hook"/>
          <p:cNvSpPr txBox="1"/>
          <p:nvPr/>
        </p:nvSpPr>
        <p:spPr>
          <a:xfrm>
            <a:off x="812800" y="57912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记忆钩子：</a:t>
            </a:r>
            <a:r>
              <a:rPr lang="en-US" sz="1400" noProof="1">
                <a:solidFill>
                  <a:srgbClr val="211D18"/>
                </a:solidFill>
                <a:latin typeface="MiSans"/>
                <a:ea typeface="MiSans"/>
              </a:rPr>
              <a:t>“科技打头、产业落地、方式转型、机制护航、人才支撑”。</a:t>
            </a:r>
            <a:endParaRPr lang="en-US" sz="1400" noProof="1"/>
          </a:p>
        </p:txBody>
      </p:sp>
      <p:sp>
        <p:nvSpPr>
          <p:cNvPr id="27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央视新闻《早啊！新闻来了》（2026-10-10）</a:t>
            </a:r>
            <a:endParaRPr lang="en-US" sz="1000" noProof="1"/>
          </a:p>
        </p:txBody>
      </p:sp>
      <p:sp>
        <p:nvSpPr>
          <p:cNvPr id="28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03 / 08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报道 · 02 关联新闻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一周内，40 项关键技术出口管制公开征求意见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left-lead"/>
          <p:cNvSpPr txBox="1"/>
          <p:nvPr/>
        </p:nvSpPr>
        <p:spPr>
          <a:xfrm>
            <a:off x="812800" y="1651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11D18"/>
                </a:solidFill>
                <a:latin typeface="MiSans"/>
                <a:ea typeface="MiSans"/>
              </a:rPr>
              <a:t>新闻事实</a:t>
            </a:r>
            <a:endParaRPr lang="en-US" sz="1500" noProof="1"/>
          </a:p>
        </p:txBody>
      </p:sp>
      <p:sp>
        <p:nvSpPr>
          <p:cNvPr id="7" name="v-divider"/>
          <p:cNvSpPr/>
          <p:nvPr>
            <p:extLst>
              <p:ext uri="{F5677B7D-0D2A-4D9B-9A5C-6D8D7D0E5A5D}">
                <pptd:line encoding="base64url">eyJ2aWV3Qm94IjpbMSwzMDBdLCJwb2ludHMiOiIwLDAgMCwzMDAifQ</pptd:line>
              </p:ext>
            </p:extLst>
          </p:nvPr>
        </p:nvSpPr>
        <p:spPr>
          <a:xfrm>
            <a:off x="7620000" y="1651000"/>
            <a:ext cx="12700" cy="3810000"/>
          </a:xfrm>
          <a:custGeom>
            <a:avLst/>
            <a:gdLst/>
            <a:ahLst/>
            <a:cxnLst/>
            <a:rect l="l" t="t" r="r" b="b"/>
            <a:pathLst>
              <a:path w="1" h="300">
                <a:moveTo>
                  <a:pt x="0" y="0"/>
                </a:move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8" name="right-lead"/>
          <p:cNvSpPr txBox="1"/>
          <p:nvPr/>
        </p:nvSpPr>
        <p:spPr>
          <a:xfrm>
            <a:off x="8026400" y="1651000"/>
            <a:ext cx="335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C03A2B"/>
                </a:solidFill>
                <a:latin typeface="MiSans"/>
                <a:ea typeface="MiSans"/>
              </a:rPr>
              <a:t>这条新闻释放什么信号？</a:t>
            </a:r>
            <a:endParaRPr lang="en-US" sz="1500" noProof="1"/>
          </a:p>
        </p:txBody>
      </p:sp>
      <p:sp>
        <p:nvSpPr>
          <p:cNvPr id="10" name="bottom-line"/>
          <p:cNvSpPr txBox="1"/>
          <p:nvPr/>
        </p:nvSpPr>
        <p:spPr>
          <a:xfrm>
            <a:off x="812800" y="57404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两条新闻合看：</a:t>
            </a:r>
            <a:r>
              <a:rPr lang="en-US" sz="1400" noProof="1">
                <a:solidFill>
                  <a:srgbClr val="211D18"/>
                </a:solidFill>
                <a:latin typeface="MiSans"/>
                <a:ea typeface="MiSans"/>
              </a:rPr>
              <a:t>一端是“促创新”的顶层部署，一端是“护安全”的制度安排——发展与安全一体两面。</a:t>
            </a:r>
            <a:endParaRPr lang="en-US" sz="1400" noProof="1"/>
          </a:p>
        </p:txBody>
      </p:sp>
      <p:sp>
        <p:nvSpPr>
          <p:cNvPr id="11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财新网（2026-10-16）</a:t>
            </a: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，《中国禁止出口限制出口技术目录》修订征求意见稿</a:t>
            </a:r>
            <a:endParaRPr lang="en-US" sz="1000" noProof="1"/>
          </a:p>
        </p:txBody>
      </p:sp>
      <p:sp>
        <p:nvSpPr>
          <p:cNvPr id="12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04 / 08</a:t>
            </a:r>
            <a:endParaRPr lang="en-US" sz="1000" noProof="1"/>
          </a:p>
        </p:txBody>
      </p:sp>
      <p:sp>
        <p:nvSpPr>
          <p:cNvPr id="13" name="left-p1"/>
          <p:cNvSpPr txBox="1"/>
          <p:nvPr/>
        </p:nvSpPr>
        <p:spPr>
          <a:xfrm>
            <a:off x="812800" y="2082800"/>
            <a:ext cx="635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239"/>
                </a:solidFill>
                <a:latin typeface="MiSans"/>
              </a:rPr>
              <a:t>10 月 16 日，商务部、科技部发布 2026 年第 48 号公告，就修订《中国禁止出口限制出口技术目录》公开征求意见</a:t>
            </a:r>
          </a:p>
        </p:txBody>
      </p:sp>
      <p:sp>
        <p:nvSpPr>
          <p:cNvPr id="14" name="left-p2"/>
          <p:cNvSpPr txBox="1"/>
          <p:nvPr/>
        </p:nvSpPr>
        <p:spPr>
          <a:xfrm>
            <a:off x="812800" y="2820799"/>
            <a:ext cx="635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239"/>
                </a:solidFill>
                <a:latin typeface="MiSans"/>
              </a:rPr>
              <a:t>拟增列人工智能、生物医药、光伏三个领域共 40 项关键技术</a:t>
            </a:r>
          </a:p>
        </p:txBody>
      </p:sp>
      <p:sp>
        <p:nvSpPr>
          <p:cNvPr id="15" name="left-p3"/>
          <p:cNvSpPr txBox="1"/>
          <p:nvPr/>
        </p:nvSpPr>
        <p:spPr>
          <a:xfrm>
            <a:off x="812800" y="3558798"/>
            <a:ext cx="635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239"/>
                </a:solidFill>
                <a:latin typeface="MiSans"/>
              </a:rPr>
              <a:t>其中拟禁止出口 14 项（如 AI 恶意代码生成技术、钙钛矿电池组件生产技术等），拟限制出口 26 项</a:t>
            </a:r>
          </a:p>
        </p:txBody>
      </p:sp>
      <p:sp>
        <p:nvSpPr>
          <p:cNvPr id="16" name="left-p4"/>
          <p:cNvSpPr txBox="1"/>
          <p:nvPr/>
        </p:nvSpPr>
        <p:spPr>
          <a:xfrm>
            <a:off x="812800" y="4296797"/>
            <a:ext cx="635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239"/>
                </a:solidFill>
                <a:latin typeface="MiSans"/>
              </a:rPr>
              <a:t>商务部发言人：这是技术贸易管理的常态化工作，依法依规，不针对任何特定国家、地区或实体</a:t>
            </a:r>
          </a:p>
        </p:txBody>
      </p:sp>
      <p:sp>
        <p:nvSpPr>
          <p:cNvPr id="17" name="right-p1"/>
          <p:cNvSpPr txBox="1"/>
          <p:nvPr/>
        </p:nvSpPr>
        <p:spPr>
          <a:xfrm>
            <a:off x="8026400" y="2082800"/>
            <a:ext cx="3352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239"/>
                </a:solidFill>
                <a:latin typeface="MiSans"/>
              </a:rPr>
              <a:t>· 科技实力已成为国际竞争的核心，各主要经济体都在加强关键技术管控</a:t>
            </a:r>
          </a:p>
        </p:txBody>
      </p:sp>
      <p:sp>
        <p:nvSpPr>
          <p:cNvPr id="18" name="right-p2"/>
          <p:cNvSpPr txBox="1"/>
          <p:nvPr/>
        </p:nvSpPr>
        <p:spPr>
          <a:xfrm>
            <a:off x="8026400" y="2946800"/>
            <a:ext cx="3352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239"/>
                </a:solidFill>
                <a:latin typeface="MiSans"/>
              </a:rPr>
              <a:t>· 关键技术关系国家安全与发展利益，必须掌握在自己手里</a:t>
            </a:r>
          </a:p>
        </p:txBody>
      </p:sp>
      <p:sp>
        <p:nvSpPr>
          <p:cNvPr id="19" name="right-p3"/>
          <p:cNvSpPr txBox="1"/>
          <p:nvPr/>
        </p:nvSpPr>
        <p:spPr>
          <a:xfrm>
            <a:off x="8026400" y="3810800"/>
            <a:ext cx="33528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239"/>
                </a:solidFill>
                <a:latin typeface="MiSans"/>
              </a:rPr>
              <a:t>· 管制不等于封闭：我国仍坚持扩大开放，推动国际科技合作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教材 · 知识回顾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九上第二课《创新驱动发展》的四个核心观点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unit-tag"/>
          <p:cNvSpPr txBox="1"/>
          <p:nvPr/>
        </p:nvSpPr>
        <p:spPr>
          <a:xfrm>
            <a:off x="812800" y="16002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人教版《道德与法治》九年级上册 · 第一单元“富强与创新”</a:t>
            </a:r>
            <a:endParaRPr lang="en-US" sz="1200" noProof="1"/>
          </a:p>
        </p:txBody>
      </p:sp>
      <p:sp>
        <p:nvSpPr>
          <p:cNvPr id="6" name="r1-num"/>
          <p:cNvSpPr txBox="1"/>
          <p:nvPr/>
        </p:nvSpPr>
        <p:spPr>
          <a:xfrm>
            <a:off x="812800" y="2082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01</a:t>
            </a:r>
            <a:endParaRPr lang="en-US" sz="2000" noProof="1"/>
          </a:p>
        </p:txBody>
      </p:sp>
      <p:sp>
        <p:nvSpPr>
          <p:cNvPr id="7" name="r1-body"/>
          <p:cNvSpPr txBox="1"/>
          <p:nvPr/>
        </p:nvSpPr>
        <p:spPr>
          <a:xfrm>
            <a:off x="1524000" y="2057400"/>
            <a:ext cx="9855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创新是引领发展的第一动力。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创新是一个民族进步的灵魂，是一个国家兴旺发达的不竭源泉，也是中华民族最鲜明的民族禀赋。</a:t>
            </a:r>
            <a:endParaRPr lang="en-US" sz="1400" noProof="1"/>
          </a:p>
        </p:txBody>
      </p:sp>
      <p:sp>
        <p:nvSpPr>
          <p:cNvPr id="8" name="r1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2946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9" name="r2-num"/>
          <p:cNvSpPr txBox="1"/>
          <p:nvPr/>
        </p:nvSpPr>
        <p:spPr>
          <a:xfrm>
            <a:off x="812800" y="3124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02</a:t>
            </a:r>
            <a:endParaRPr lang="en-US" sz="2000" noProof="1"/>
          </a:p>
        </p:txBody>
      </p:sp>
      <p:sp>
        <p:nvSpPr>
          <p:cNvPr id="10" name="r2-body"/>
          <p:cNvSpPr txBox="1"/>
          <p:nvPr/>
        </p:nvSpPr>
        <p:spPr>
          <a:xfrm>
            <a:off x="1524000" y="3098800"/>
            <a:ext cx="9855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创新驱动是国家命运所系。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我国实施创新驱动发展战略，推进以科技创新为核心的全面创新，让创新成为推动发展的第一动力。</a:t>
            </a:r>
            <a:endParaRPr lang="en-US" sz="1400" noProof="1"/>
          </a:p>
        </p:txBody>
      </p:sp>
      <p:sp>
        <p:nvSpPr>
          <p:cNvPr id="11" name="r2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39878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2" name="r3-num"/>
          <p:cNvSpPr txBox="1"/>
          <p:nvPr/>
        </p:nvSpPr>
        <p:spPr>
          <a:xfrm>
            <a:off x="812800" y="4165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03</a:t>
            </a:r>
            <a:endParaRPr lang="en-US" sz="2000" noProof="1"/>
          </a:p>
        </p:txBody>
      </p:sp>
      <p:sp>
        <p:nvSpPr>
          <p:cNvPr id="13" name="r3-body"/>
          <p:cNvSpPr txBox="1"/>
          <p:nvPr/>
        </p:nvSpPr>
        <p:spPr>
          <a:xfrm>
            <a:off x="1524000" y="4140200"/>
            <a:ext cx="9855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建设世界科技创新强国，要增强自主创新能力。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坚持自主创新、重点跨越、支撑发展、引领未来的方针，坚定不移走中国特色自主创新道路。</a:t>
            </a:r>
            <a:endParaRPr lang="en-US" sz="1400" noProof="1"/>
          </a:p>
        </p:txBody>
      </p:sp>
      <p:sp>
        <p:nvSpPr>
          <p:cNvPr id="14" name="r3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50292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5" name="r4-num"/>
          <p:cNvSpPr txBox="1"/>
          <p:nvPr/>
        </p:nvSpPr>
        <p:spPr>
          <a:xfrm>
            <a:off x="812800" y="52070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C03A2B"/>
                </a:solidFill>
                <a:latin typeface="Noto Serif SC"/>
                <a:ea typeface="Noto Serif SC"/>
              </a:rPr>
              <a:t>04</a:t>
            </a:r>
            <a:endParaRPr lang="en-US" sz="2000" noProof="1"/>
          </a:p>
        </p:txBody>
      </p:sp>
      <p:sp>
        <p:nvSpPr>
          <p:cNvPr id="16" name="r4-body"/>
          <p:cNvSpPr txBox="1"/>
          <p:nvPr/>
        </p:nvSpPr>
        <p:spPr>
          <a:xfrm>
            <a:off x="1524000" y="5181600"/>
            <a:ext cx="9855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企业是社会创新的重要力量。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提升创新能力是企业持续发展之基、市场制胜之道；核心技术不是别人赐予的，必须自强奋斗、敢于突破。</a:t>
            </a:r>
            <a:endParaRPr lang="en-US" sz="1400" noProof="1"/>
          </a:p>
        </p:txBody>
      </p:sp>
      <p:sp>
        <p:nvSpPr>
          <p:cNvPr id="17" name="note"/>
          <p:cNvSpPr txBox="1"/>
          <p:nvPr/>
        </p:nvSpPr>
        <p:spPr>
          <a:xfrm>
            <a:off x="812800" y="60960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以上表述综合自人教版《道德与法治》九年级上册第二课《创新驱动发展》。</a:t>
            </a:r>
            <a:endParaRPr lang="en-US" sz="1200" noProof="1"/>
          </a:p>
        </p:txBody>
      </p:sp>
      <p:sp>
        <p:nvSpPr>
          <p:cNvPr id="18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教材：人民教育出版社《道德与法治》九年级上册</a:t>
            </a:r>
            <a:endParaRPr lang="en-US" sz="1000" noProof="1"/>
          </a:p>
        </p:txBody>
      </p:sp>
      <p:sp>
        <p:nvSpPr>
          <p:cNvPr id="19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05 / 08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教材 · 考点对照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一条新闻里的四个考点：新闻事实 ↔ 教材观点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graphicFrame>
        <p:nvGraphicFramePr>
          <p:cNvPr id="5" name="mapping-table"/>
          <p:cNvGraphicFramePr>
            <a:graphicFrameLocks noGrp="1"/>
          </p:cNvGraphicFramePr>
          <p:nvPr/>
        </p:nvGraphicFramePr>
        <p:xfrm>
          <a:off x="812800" y="1651000"/>
          <a:ext cx="10566400" cy="4191000"/>
        </p:xfrm>
        <a:graphic>
          <a:graphicData uri="http://schemas.openxmlformats.org/drawingml/2006/table">
            <a:tbl>
              <a:tblPr/>
              <a:tblGrid>
                <a:gridCol w="4860544"/>
                <a:gridCol w="5705856"/>
              </a:tblGrid>
              <a:tr h="5867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 b="1">
                          <a:solidFill>
                            <a:srgbClr val="F8F4ED"/>
                          </a:solidFill>
                          <a:latin typeface="Times New Roman"/>
                          <a:ea typeface="Times New Roman"/>
                        </a:rPr>
                        <a:t>新闻中的事实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11D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 b="1">
                          <a:solidFill>
                            <a:srgbClr val="F8F4ED"/>
                          </a:solidFill>
                          <a:latin typeface="Times New Roman"/>
                          <a:ea typeface="Times New Roman"/>
                        </a:rPr>
                        <a:t>教材中的观点（九年级上册）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11D18"/>
                    </a:solidFill>
                  </a:tcPr>
                </a:tc>
              </a:tr>
              <a:tr h="90106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《意见》把科技创新摆在五方面首位，部署 19 项举措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创新是引领发展的第一动力；实施创新驱动发展战略，推进以科技创新为核心的全面创新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</a:tr>
              <a:tr h="90106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《意见》专门部署人才工作机制创新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落实科教兴国战略、人才强国战略；培养创新型人才，建设创新型国家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</a:tr>
              <a:tr h="90106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拟对人工智能、生物医药、光伏等 40 项关键技术实施出口管制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增强自主创新能力；大国重器一定要掌握在自己手里，核心技术不是别人赐予的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</a:tr>
              <a:tr h="90106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新质生产力覆盖光伏、生物医药等新兴产业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55000"/>
                        </a:lnSpc>
                      </a:pPr>
                      <a:r>
                        <a:rPr lang="en-US" sz="1300" noProof="1">
                          <a:solidFill>
                            <a:srgbClr val="3A342C"/>
                          </a:solidFill>
                          <a:latin typeface="Times New Roman"/>
                          <a:ea typeface="Times New Roman"/>
                        </a:rPr>
                        <a:t>转变发展方式、优化经济结构、转换增长动力，推动经济高质量发展（九上第一课）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CFB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812800" y="60198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A7166"/>
                </a:solidFill>
                <a:latin typeface="MiSans"/>
                <a:ea typeface="MiSans"/>
              </a:rPr>
              <a:t>用法提示：中考道法时政题常给一段新闻材料，要求用教材观点分析——先找“事实”，再对“观点”。</a:t>
            </a:r>
            <a:endParaRPr lang="en-US" sz="1200" noProof="1"/>
          </a:p>
        </p:txBody>
      </p:sp>
      <p:sp>
        <p:nvSpPr>
          <p:cNvPr id="7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来源：综合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央视新闻（2026-10-10）</a:t>
            </a: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、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财新网（2026-10-16）</a:t>
            </a: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及人教版教材</a:t>
            </a:r>
            <a:endParaRPr lang="en-US" sz="1000" noProof="1"/>
          </a:p>
        </p:txBody>
      </p:sp>
      <p:sp>
        <p:nvSpPr>
          <p:cNvPr id="8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06 / 08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点评 · 怎么看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三重逻辑读懂这份《意见》：发展、竞争与安全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p1-num"/>
          <p:cNvSpPr txBox="1"/>
          <p:nvPr/>
        </p:nvSpPr>
        <p:spPr>
          <a:xfrm>
            <a:off x="812800" y="1701800"/>
            <a:ext cx="66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03A2B"/>
                </a:solidFill>
                <a:latin typeface="Noto Serif SC"/>
                <a:ea typeface="Noto Serif SC"/>
              </a:rPr>
              <a:t>①</a:t>
            </a:r>
            <a:endParaRPr lang="en-US" sz="2400" noProof="1"/>
          </a:p>
        </p:txBody>
      </p:sp>
      <p:sp>
        <p:nvSpPr>
          <p:cNvPr id="6" name="p1-body"/>
          <p:cNvSpPr txBox="1"/>
          <p:nvPr/>
        </p:nvSpPr>
        <p:spPr>
          <a:xfrm>
            <a:off x="1600200" y="1676400"/>
            <a:ext cx="9779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发展的选择：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我国经济已由高速增长阶段转向高质量发展阶段，传统要素驱动难以为继，必须以创新催生新产业、新模式、新动能。</a:t>
            </a:r>
            <a:endParaRPr lang="en-US" sz="14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C03A2B"/>
                </a:solidFill>
                <a:latin typeface="MiSans"/>
                <a:ea typeface="MiSans"/>
              </a:rPr>
              <a:t>教材链接：创新是引领发展的第一动力，创新驱动是国家命运所系。</a:t>
            </a:r>
            <a:endParaRPr lang="en-US" sz="1400" noProof="1"/>
          </a:p>
        </p:txBody>
      </p:sp>
      <p:sp>
        <p:nvSpPr>
          <p:cNvPr id="7" name="p1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2946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8" name="p2-num"/>
          <p:cNvSpPr txBox="1"/>
          <p:nvPr/>
        </p:nvSpPr>
        <p:spPr>
          <a:xfrm>
            <a:off x="812800" y="3225800"/>
            <a:ext cx="66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03A2B"/>
                </a:solidFill>
                <a:latin typeface="Noto Serif SC"/>
                <a:ea typeface="Noto Serif SC"/>
              </a:rPr>
              <a:t>②</a:t>
            </a:r>
            <a:endParaRPr lang="en-US" sz="2400" noProof="1"/>
          </a:p>
        </p:txBody>
      </p:sp>
      <p:sp>
        <p:nvSpPr>
          <p:cNvPr id="9" name="p2-body"/>
          <p:cNvSpPr txBox="1"/>
          <p:nvPr/>
        </p:nvSpPr>
        <p:spPr>
          <a:xfrm>
            <a:off x="1600200" y="3200400"/>
            <a:ext cx="9779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竞争的应对：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新一轮科技革命加速突破，关键核心技术买不来、讨不来。只有把大国重器掌握在自己手里，才能赢得发展主动权。</a:t>
            </a:r>
            <a:endParaRPr lang="en-US" sz="14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C03A2B"/>
                </a:solidFill>
                <a:latin typeface="MiSans"/>
                <a:ea typeface="MiSans"/>
              </a:rPr>
              <a:t>教材链接：建设世界科技创新强国，要增强自主创新能力，走中国特色自主创新道路。</a:t>
            </a:r>
            <a:endParaRPr lang="en-US" sz="1400" noProof="1"/>
          </a:p>
        </p:txBody>
      </p:sp>
      <p:sp>
        <p:nvSpPr>
          <p:cNvPr id="10" name="p2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4470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1" name="p3-num"/>
          <p:cNvSpPr txBox="1"/>
          <p:nvPr/>
        </p:nvSpPr>
        <p:spPr>
          <a:xfrm>
            <a:off x="812800" y="4749800"/>
            <a:ext cx="66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C03A2B"/>
                </a:solidFill>
                <a:latin typeface="Noto Serif SC"/>
                <a:ea typeface="Noto Serif SC"/>
              </a:rPr>
              <a:t>③</a:t>
            </a:r>
            <a:endParaRPr lang="en-US" sz="2400" noProof="1"/>
          </a:p>
        </p:txBody>
      </p:sp>
      <p:sp>
        <p:nvSpPr>
          <p:cNvPr id="12" name="p3-body"/>
          <p:cNvSpPr txBox="1"/>
          <p:nvPr/>
        </p:nvSpPr>
        <p:spPr>
          <a:xfrm>
            <a:off x="1600200" y="4724400"/>
            <a:ext cx="9779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211D18"/>
                </a:solidFill>
                <a:latin typeface="MiSans"/>
                <a:ea typeface="MiSans"/>
              </a:rPr>
              <a:t>安全的统筹：</a:t>
            </a:r>
            <a:r>
              <a:rPr lang="en-US" sz="1400" noProof="1">
                <a:solidFill>
                  <a:srgbClr val="4A4239"/>
                </a:solidFill>
                <a:latin typeface="MiSans"/>
                <a:ea typeface="MiSans"/>
              </a:rPr>
              <a:t>对先进技术依法依规实施出口管制，与扩大高水平对外开放并行不悖，体现统筹发展和安全，守住国家利益底线。</a:t>
            </a:r>
            <a:endParaRPr lang="en-US" sz="14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C03A2B"/>
                </a:solidFill>
                <a:latin typeface="MiSans"/>
                <a:ea typeface="MiSans"/>
              </a:rPr>
              <a:t>教材链接：坚持国家利益至上，维护国家安全，人人有责。</a:t>
            </a:r>
            <a:endParaRPr lang="en-US" sz="1400" noProof="1"/>
          </a:p>
        </p:txBody>
      </p:sp>
      <p:sp>
        <p:nvSpPr>
          <p:cNvPr id="13" name="closing-strip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1E9DC"/>
          </a:solidFill>
          <a:ln>
            <a:noFill/>
          </a:ln>
        </p:spPr>
      </p:sp>
      <p:sp>
        <p:nvSpPr>
          <p:cNvPr id="14" name="closing-text"/>
          <p:cNvSpPr txBox="1"/>
          <p:nvPr/>
        </p:nvSpPr>
        <p:spPr>
          <a:xfrm>
            <a:off x="812800" y="60960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211D18"/>
                </a:solidFill>
                <a:latin typeface="Noto Serif SC"/>
                <a:ea typeface="Noto Serif SC"/>
              </a:rPr>
              <a:t>一句话点评：以创新破局、以制度护航，新质生产力正成为中国式现代化最鲜明的“新引擎”。</a:t>
            </a:r>
            <a:endParaRPr lang="en-US" sz="1500" noProof="1"/>
          </a:p>
        </p:txBody>
      </p:sp>
      <p:sp>
        <p:nvSpPr>
          <p:cNvPr id="15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07 / 08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C03A2B"/>
                </a:solidFill>
                <a:latin typeface="MiSans"/>
                <a:ea typeface="MiSans"/>
              </a:rPr>
              <a:t>点评 · 我们怎么做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8"/>
                </a:solidFill>
                <a:latin typeface="Noto Serif SC"/>
                <a:ea typeface="Noto Serif SC"/>
              </a:rPr>
              <a:t>强国建设，少年何为？四个行动现在做起</a:t>
            </a:r>
            <a:endParaRPr lang="en-US" sz="2700" noProof="1"/>
          </a:p>
        </p:txBody>
      </p:sp>
      <p:sp>
        <p:nvSpPr>
          <p:cNvPr id="4" name="header-line"/>
          <p:cNvSpPr/>
          <p:nvPr>
            <p:extLst>
              <p:ext uri="{F5677B7D-0D2A-4D9B-9A5C-6D8D7D0E5A5D}">
                <pptd:line encoding="base64url">eyJ2aWV3Qm94IjpbODMyLDFdLCJwb2ludHMiOiIwLDAgODMyLDAifQ</pptd:line>
              </p:ext>
            </p:extLst>
          </p:nvPr>
        </p:nvSpPr>
        <p:spPr>
          <a:xfrm>
            <a:off x="812800" y="14224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5" name="a1-icon"/>
          <p:cNvSpPr/>
          <p:nvPr>
            <p:extLst>
              <p:ext uri="{F5677B7D-0D2A-4D9B-9A5C-6D8D7D0E5A5D}">
                <pptd:icon encoding="base64url">eyJpY29uTmFtZSI6ImZhczpib29rLW9wZW4ifQ</pptd:icon>
              </p:ext>
            </p:extLst>
          </p:nvPr>
        </p:nvSpPr>
        <p:spPr>
          <a:xfrm>
            <a:off x="812800" y="1752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C03A2B"/>
          </a:solidFill>
          <a:ln>
            <a:noFill/>
          </a:ln>
        </p:spPr>
      </p:sp>
      <p:sp>
        <p:nvSpPr>
          <p:cNvPr id="6" name="a1-text"/>
          <p:cNvSpPr txBox="1"/>
          <p:nvPr/>
        </p:nvSpPr>
        <p:spPr>
          <a:xfrm>
            <a:off x="1295400" y="16764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11D18"/>
                </a:solidFill>
                <a:latin typeface="MiSans"/>
                <a:ea typeface="MiSans"/>
              </a:rPr>
              <a:t>勤学习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学好科学文化知识，打牢创新的知识根基</a:t>
            </a:r>
            <a:endParaRPr lang="en-US" sz="1300" noProof="1"/>
          </a:p>
        </p:txBody>
      </p:sp>
      <p:sp>
        <p:nvSpPr>
          <p:cNvPr id="7" name="a2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8128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03A2B"/>
          </a:solidFill>
          <a:ln>
            <a:noFill/>
          </a:ln>
        </p:spPr>
      </p:sp>
      <p:sp>
        <p:nvSpPr>
          <p:cNvPr id="8" name="a2-text"/>
          <p:cNvSpPr txBox="1"/>
          <p:nvPr/>
        </p:nvSpPr>
        <p:spPr>
          <a:xfrm>
            <a:off x="1295400" y="26924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11D18"/>
                </a:solidFill>
                <a:latin typeface="MiSans"/>
                <a:ea typeface="MiSans"/>
              </a:rPr>
              <a:t>敢质疑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不迷信权威、不盲从答案，培养批判性思维</a:t>
            </a:r>
            <a:endParaRPr lang="en-US" sz="1300" noProof="1"/>
          </a:p>
        </p:txBody>
      </p:sp>
      <p:sp>
        <p:nvSpPr>
          <p:cNvPr id="9" name="a3-icon"/>
          <p:cNvSpPr/>
          <p:nvPr>
            <p:extLst>
              <p:ext uri="{F5677B7D-0D2A-4D9B-9A5C-6D8D7D0E5A5D}">
                <pptd:icon encoding="base64url">eyJpY29uTmFtZSI6ImZhczpmbGFzayJ9</pptd:icon>
              </p:ext>
            </p:extLst>
          </p:nvPr>
        </p:nvSpPr>
        <p:spPr>
          <a:xfrm>
            <a:off x="812800" y="3784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C03A2B"/>
          </a:solidFill>
          <a:ln>
            <a:noFill/>
          </a:ln>
        </p:spPr>
      </p:sp>
      <p:sp>
        <p:nvSpPr>
          <p:cNvPr id="10" name="a3-text"/>
          <p:cNvSpPr txBox="1"/>
          <p:nvPr/>
        </p:nvSpPr>
        <p:spPr>
          <a:xfrm>
            <a:off x="1295400" y="37084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11D18"/>
                </a:solidFill>
                <a:latin typeface="MiSans"/>
                <a:ea typeface="MiSans"/>
              </a:rPr>
              <a:t>重实践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参加科技小发明、小制作和研究性学习活动</a:t>
            </a:r>
            <a:endParaRPr lang="en-US" sz="1300" noProof="1"/>
          </a:p>
        </p:txBody>
      </p:sp>
      <p:sp>
        <p:nvSpPr>
          <p:cNvPr id="11" name="a4-icon"/>
          <p:cNvSpPr/>
          <p:nvPr>
            <p:extLst>
              <p:ext uri="{F5677B7D-0D2A-4D9B-9A5C-6D8D7D0E5A5D}">
                <pptd:icon encoding="base64url">eyJpY29uTmFtZSI6ImZhczpmbGFnIn0</pptd:icon>
              </p:ext>
            </p:extLst>
          </p:nvPr>
        </p:nvSpPr>
        <p:spPr>
          <a:xfrm>
            <a:off x="812800" y="480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64" y="14"/>
                  <a:pt x="50" y="0"/>
                  <a:pt x="32" y="0"/>
                </a:cubicBezTo>
                <a:cubicBezTo>
                  <a:pt x="14" y="0"/>
                  <a:pt x="0" y="14"/>
                  <a:pt x="0" y="32"/>
                </a:cubicBez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cubicBezTo>
                  <a:pt x="50" y="512"/>
                  <a:pt x="64" y="498"/>
                  <a:pt x="64" y="480"/>
                </a:cubicBezTo>
                <a:lnTo>
                  <a:pt x="64" y="358"/>
                </a:lnTo>
                <a:lnTo>
                  <a:pt x="127" y="340"/>
                </a:lnTo>
                <a:cubicBezTo>
                  <a:pt x="169" y="327"/>
                  <a:pt x="214" y="331"/>
                  <a:pt x="253" y="350"/>
                </a:cubicBezTo>
                <a:cubicBezTo>
                  <a:pt x="296" y="372"/>
                  <a:pt x="345" y="374"/>
                  <a:pt x="390" y="358"/>
                </a:cubicBezTo>
                <a:lnTo>
                  <a:pt x="427" y="344"/>
                </a:lnTo>
                <a:cubicBezTo>
                  <a:pt x="440" y="339"/>
                  <a:pt x="448" y="327"/>
                  <a:pt x="448" y="314"/>
                </a:cubicBezTo>
                <a:lnTo>
                  <a:pt x="448" y="66"/>
                </a:lnTo>
                <a:cubicBezTo>
                  <a:pt x="448" y="43"/>
                  <a:pt x="424" y="28"/>
                  <a:pt x="403" y="38"/>
                </a:cubicBezTo>
                <a:lnTo>
                  <a:pt x="391" y="44"/>
                </a:lnTo>
                <a:cubicBezTo>
                  <a:pt x="347" y="67"/>
                  <a:pt x="294" y="67"/>
                  <a:pt x="249" y="44"/>
                </a:cubicBezTo>
                <a:cubicBezTo>
                  <a:pt x="212" y="26"/>
                  <a:pt x="170" y="22"/>
                  <a:pt x="131" y="34"/>
                </a:cubicBezTo>
                <a:lnTo>
                  <a:pt x="64" y="54"/>
                </a:lnTo>
                <a:lnTo>
                  <a:pt x="64" y="32"/>
                </a:lnTo>
                <a:close/>
              </a:path>
            </a:pathLst>
          </a:custGeom>
          <a:solidFill>
            <a:srgbClr val="C03A2B"/>
          </a:solidFill>
          <a:ln>
            <a:noFill/>
          </a:ln>
        </p:spPr>
      </p:sp>
      <p:sp>
        <p:nvSpPr>
          <p:cNvPr id="12" name="a4-text"/>
          <p:cNvSpPr txBox="1"/>
          <p:nvPr/>
        </p:nvSpPr>
        <p:spPr>
          <a:xfrm>
            <a:off x="1295400" y="47244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11D18"/>
                </a:solidFill>
                <a:latin typeface="MiSans"/>
                <a:ea typeface="MiSans"/>
              </a:rPr>
              <a:t>立大志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把个人理想融入科技强国、民族复兴的伟大征程</a:t>
            </a:r>
            <a:endParaRPr lang="en-US" sz="1300" noProof="1"/>
          </a:p>
        </p:txBody>
      </p:sp>
      <p:sp>
        <p:nvSpPr>
          <p:cNvPr id="13" name="v-divider"/>
          <p:cNvSpPr/>
          <p:nvPr>
            <p:extLst>
              <p:ext uri="{F5677B7D-0D2A-4D9B-9A5C-6D8D7D0E5A5D}">
                <pptd:line encoding="base64url">eyJ2aWV3Qm94IjpbMSwyOTBdLCJwb2ludHMiOiIwLDAgMCwyOTAifQ</pptd:line>
              </p:ext>
            </p:extLst>
          </p:nvPr>
        </p:nvSpPr>
        <p:spPr>
          <a:xfrm>
            <a:off x="6858000" y="1778000"/>
            <a:ext cx="12700" cy="3683000"/>
          </a:xfrm>
          <a:custGeom>
            <a:avLst/>
            <a:gdLst/>
            <a:ahLst/>
            <a:cxnLst/>
            <a:rect l="l" t="t" r="r" b="b"/>
            <a:pathLst>
              <a:path w="1" h="290">
                <a:moveTo>
                  <a:pt x="0" y="0"/>
                </a:moveTo>
                <a:lnTo>
                  <a:pt x="0" y="290"/>
                </a:lnTo>
              </a:path>
            </a:pathLst>
          </a:custGeom>
          <a:noFill/>
          <a:ln w="12700" cap="rnd">
            <a:solidFill>
              <a:srgbClr val="D9CFBE"/>
            </a:solidFill>
            <a:round/>
          </a:ln>
        </p:spPr>
      </p:sp>
      <p:sp>
        <p:nvSpPr>
          <p:cNvPr id="14" name="end-panel"/>
          <p:cNvSpPr/>
          <p:nvPr/>
        </p:nvSpPr>
        <p:spPr>
          <a:xfrm>
            <a:off x="7366000" y="1778000"/>
            <a:ext cx="4013200" cy="3683000"/>
          </a:xfrm>
          <a:prstGeom prst="rect">
            <a:avLst/>
          </a:prstGeom>
          <a:solidFill>
            <a:srgbClr val="F1E9DC"/>
          </a:solidFill>
          <a:ln>
            <a:noFill/>
          </a:ln>
        </p:spPr>
      </p:sp>
      <p:sp>
        <p:nvSpPr>
          <p:cNvPr id="15" name="end-quote-mark"/>
          <p:cNvSpPr txBox="1"/>
          <p:nvPr/>
        </p:nvSpPr>
        <p:spPr>
          <a:xfrm>
            <a:off x="7670800" y="2006600"/>
            <a:ext cx="63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 b="1">
                <a:solidFill>
                  <a:srgbClr val="C03A2B"/>
                </a:solidFill>
                <a:latin typeface="Noto Serif SC"/>
                <a:ea typeface="Noto Serif SC"/>
              </a:rPr>
              <a:t>“</a:t>
            </a:r>
            <a:endParaRPr lang="en-US" sz="4200" noProof="1"/>
          </a:p>
        </p:txBody>
      </p:sp>
      <p:sp>
        <p:nvSpPr>
          <p:cNvPr id="16" name="end-quote"/>
          <p:cNvSpPr txBox="1"/>
          <p:nvPr/>
        </p:nvSpPr>
        <p:spPr>
          <a:xfrm>
            <a:off x="7670800" y="2641600"/>
            <a:ext cx="3403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900" noProof="1" b="1">
                <a:solidFill>
                  <a:srgbClr val="211D18"/>
                </a:solidFill>
                <a:latin typeface="Noto Serif SC"/>
                <a:ea typeface="Noto Serif SC"/>
              </a:rPr>
              <a:t>惟创新者进，惟创新者强，惟创新者胜。</a:t>
            </a:r>
            <a:endParaRPr lang="en-US" sz="1900" noProof="1"/>
          </a:p>
        </p:txBody>
      </p:sp>
      <p:sp>
        <p:nvSpPr>
          <p:cNvPr id="17" name="end-sign"/>
          <p:cNvSpPr txBox="1"/>
          <p:nvPr/>
        </p:nvSpPr>
        <p:spPr>
          <a:xfrm>
            <a:off x="7670800" y="4470400"/>
            <a:ext cx="340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我的演讲到此结束，</a:t>
            </a:r>
            <a:endParaRPr lang="en-US" sz="1300" noProof="1"/>
          </a:p>
          <a:p>
            <a:pPr>
              <a:lnSpc>
                <a:spcPct val="180000"/>
              </a:lnSpc>
            </a:pPr>
            <a:r>
              <a:rPr lang="en-US" sz="1300" noProof="1">
                <a:solidFill>
                  <a:srgbClr val="4A4239"/>
                </a:solidFill>
                <a:latin typeface="MiSans"/>
                <a:ea typeface="MiSans"/>
              </a:rPr>
              <a:t>谢谢大家！</a:t>
            </a:r>
            <a:endParaRPr lang="en-US" sz="1300" noProof="1"/>
          </a:p>
        </p:txBody>
      </p:sp>
      <p:sp>
        <p:nvSpPr>
          <p:cNvPr id="18" name="source"/>
          <p:cNvSpPr txBox="1"/>
          <p:nvPr/>
        </p:nvSpPr>
        <p:spPr>
          <a:xfrm>
            <a:off x="8128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本页为演讲者倡议与结束语</a:t>
            </a:r>
            <a:endParaRPr lang="en-US" sz="1000" noProof="1"/>
          </a:p>
        </p:txBody>
      </p:sp>
      <p:sp>
        <p:nvSpPr>
          <p:cNvPr id="19" name="page-no"/>
          <p:cNvSpPr txBox="1"/>
          <p:nvPr/>
        </p:nvSpPr>
        <p:spPr>
          <a:xfrm>
            <a:off x="108712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7A7166"/>
                </a:solidFill>
                <a:latin typeface="MiSans"/>
                <a:ea typeface="MiSans"/>
              </a:rPr>
              <a:t>08 / 08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8</Slides>
</Properties>
</file>

<file path=docProps/core.xml><?xml version="1.0" encoding="utf-8"?>
<cp:coreProperties xmlns:dc="http://purl.org/dc/elements/1.1/" xmlns:cp="http://schemas.openxmlformats.org/package/2006/metadata/core-properties">
  <dc:title>shizheng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